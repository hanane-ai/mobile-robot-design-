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72" r:id="rId3"/>
    <p:sldId id="273" r:id="rId4"/>
    <p:sldId id="274" r:id="rId5"/>
    <p:sldId id="260" r:id="rId6"/>
    <p:sldId id="264" r:id="rId7"/>
    <p:sldId id="265" r:id="rId8"/>
    <p:sldId id="257" r:id="rId9"/>
    <p:sldId id="269" r:id="rId10"/>
    <p:sldId id="270" r:id="rId11"/>
    <p:sldId id="267" r:id="rId12"/>
    <p:sldId id="258" r:id="rId13"/>
    <p:sldId id="262" r:id="rId14"/>
    <p:sldId id="259" r:id="rId15"/>
    <p:sldId id="263" r:id="rId16"/>
    <p:sldId id="26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00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643000-0F65-422B-B742-F7EA005ABF5B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3327D8-43CE-401F-AB05-7DC1ED9C2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919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e2af3c043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g3ee2af3c043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e2af3c043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3ee2af3c043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5C6288-BC89-20A7-BA3E-E2680D7AF3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604B3B7-0714-72A3-6D16-6E7952E719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0AE6EA9-E182-2616-C65C-B8A65AC73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3309-DF63-42E7-85C1-6DC6040EDC7D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7B75B1E-E4FD-A827-1BF6-0266AADDA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A086EF-3CA7-6650-FF79-E38AEE8DE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5D99-48DD-4EEB-9B7A-3962904E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378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BFA284-7253-F0CC-3351-888A6825A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9112A0B-5469-0C6E-832A-6FDD51761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A3D27E6-F83F-A6BF-3FE3-89048D2B9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3309-DF63-42E7-85C1-6DC6040EDC7D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6A093ED-118F-B33C-EE4E-6A8493C3C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411523-3E12-E22C-0D48-CFD8F04F1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5D99-48DD-4EEB-9B7A-3962904E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31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F906C8-C1E2-AFD9-ADA7-B708C4E66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DEFE83A-C621-0408-FA26-E14B23949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28BACE6-9476-A0D6-16F7-0691E1AE1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3309-DF63-42E7-85C1-6DC6040EDC7D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4E0BD2-C28D-EFEC-8A2D-0D6E1B4BE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AB85BB-8909-2540-F2CC-C65DFBEB3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5D99-48DD-4EEB-9B7A-3962904E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33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6803DB-EBD0-8200-8517-8183F6AF8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8B6FE2-64B0-95C1-E43B-34A82D98AE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F6F7FAB-1251-4C37-B673-260820B9A2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B2E6E96-3A19-CD6A-F044-D2A5A8887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3309-DF63-42E7-85C1-6DC6040EDC7D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B522DBF-A33D-6EBD-B178-39D0DA930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18B91F1-41D4-31A1-2A9D-36F535C82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5D99-48DD-4EEB-9B7A-3962904E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063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D36B99-7D78-18D1-A974-5D6EE2CB2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0653AA7-3306-DCDB-648E-7B7BAAEFF3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AD2A5A1-0697-89D5-896C-F23ECA2334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84C6632-3AF9-C228-53D4-346ABCD8EF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F4A00BF-647D-BD84-3B29-E49331480C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FB42643-1D11-2A9F-AA95-640CCB9E4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3309-DF63-42E7-85C1-6DC6040EDC7D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6BF6E4D-6492-AA34-C5FC-D9DB53F79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7C4BE23-EC56-4CC8-F086-AFD66B478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5D99-48DD-4EEB-9B7A-3962904E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017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5D9410-6E50-AF46-C9AE-87CA622CB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994CB2D-9229-34D6-7B34-2C4D707A0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3309-DF63-42E7-85C1-6DC6040EDC7D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61E5326-1875-7AAF-4E08-34D09A7C3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56CDEAF-9001-D8BF-F9F2-9DA547676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5D99-48DD-4EEB-9B7A-3962904E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5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BF47183-7BCD-0E89-D3A8-BECB7261D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3309-DF63-42E7-85C1-6DC6040EDC7D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F010FF1-52DF-174C-E7CE-95545F17A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F398331-5281-B8D5-1EB7-CFDCC401E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5D99-48DD-4EEB-9B7A-3962904E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724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D6A19A-F6C3-10B8-96F9-84C75DC52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53EBA5D-0A61-1388-D39F-DABB85FB8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E09E6AE-7F55-B95A-02EF-4272347A9A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57E398A-D705-F464-D7C9-155BFD397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3309-DF63-42E7-85C1-6DC6040EDC7D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4BF5FA3-1551-4835-7763-9415D090B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F38056C-8541-B36D-8C37-BCCD8F82F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5D99-48DD-4EEB-9B7A-3962904E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981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6F5B44-03CE-0C1E-EAD0-A5CBA3325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A3215F1-B201-83F5-8E77-70AD4ED2D0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B8903B9-8E98-528A-08E1-7A652A687A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F172D71-7672-A667-DBBD-2178D4852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3309-DF63-42E7-85C1-6DC6040EDC7D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74303D1-4626-B0FC-90EE-4D7E5F3D2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0CE9280-1B0B-B2C0-50BE-A2CD42264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5D99-48DD-4EEB-9B7A-3962904E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086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B80A6D-ADE6-CE61-9520-002E12E67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A37FE68-A88E-06ED-2D54-1B42F46E5D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418F1B4-F2B2-D8D0-1868-39F21246F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3309-DF63-42E7-85C1-6DC6040EDC7D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58380EA-F5BF-8179-9F1A-17F9F1892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9F9F1F-0D9B-CB23-4212-23FCA8B5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5D99-48DD-4EEB-9B7A-3962904E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658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7FD99FC-F249-5E59-F4C1-9D40BCAC3E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5929498-01C3-42BC-153D-4C8337FFB8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5FF177-7055-7837-EEF8-C88D0702D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3309-DF63-42E7-85C1-6DC6040EDC7D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3D6777-D466-F68C-0945-D16B21BD6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989423C-296C-93EE-C820-6005B8D35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5D99-48DD-4EEB-9B7A-3962904E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029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9C1F9D6-22CF-FB50-80B6-C0CF0DE4D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C1465ED-C0DB-D42F-BCBC-0AFD3C86A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FA8A9E6-D344-A200-3F01-CB9EC2DF9F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4E3309-DF63-42E7-85C1-6DC6040EDC7D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94D5C5B-407B-9F25-2F95-F5C169D15C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0E5285-93BE-93B0-47A4-B0397F9E38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765D99-48DD-4EEB-9B7A-3962904E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002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/>
          </p:nvPr>
        </p:nvSpPr>
        <p:spPr>
          <a:xfrm>
            <a:off x="638875" y="2197475"/>
            <a:ext cx="9674700" cy="21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000"/>
              <a:t>Robot Design for Stair</a:t>
            </a:r>
            <a:endParaRPr sz="6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000"/>
              <a:t>Climbing</a:t>
            </a:r>
            <a:endParaRPr sz="6700"/>
          </a:p>
        </p:txBody>
      </p:sp>
      <p:sp>
        <p:nvSpPr>
          <p:cNvPr id="86" name="Google Shape;86;p13"/>
          <p:cNvSpPr txBox="1">
            <a:spLocks noGrp="1"/>
          </p:cNvSpPr>
          <p:nvPr>
            <p:ph type="body" idx="1"/>
          </p:nvPr>
        </p:nvSpPr>
        <p:spPr>
          <a:xfrm>
            <a:off x="638882" y="4631161"/>
            <a:ext cx="3572100" cy="15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Lisa-Sophie Baier 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Hanane Lotf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Svetlana Shevchenko</a:t>
            </a:r>
            <a:endParaRPr sz="2400"/>
          </a:p>
        </p:txBody>
      </p:sp>
      <p:sp>
        <p:nvSpPr>
          <p:cNvPr id="87" name="Google Shape;87;p13"/>
          <p:cNvSpPr/>
          <p:nvPr/>
        </p:nvSpPr>
        <p:spPr>
          <a:xfrm>
            <a:off x="643278" y="4409267"/>
            <a:ext cx="3255095" cy="18288"/>
          </a:xfrm>
          <a:custGeom>
            <a:avLst/>
            <a:gdLst/>
            <a:ahLst/>
            <a:cxnLst/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5080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</a:pPr>
            <a:r>
              <a:rPr lang="en-US" sz="5400"/>
              <a:t>Given Requirements</a:t>
            </a:r>
            <a:endParaRPr sz="5400"/>
          </a:p>
        </p:txBody>
      </p:sp>
      <p:sp>
        <p:nvSpPr>
          <p:cNvPr id="94" name="Google Shape;94;p14"/>
          <p:cNvSpPr/>
          <p:nvPr/>
        </p:nvSpPr>
        <p:spPr>
          <a:xfrm>
            <a:off x="669036" y="1677373"/>
            <a:ext cx="10853928" cy="18288"/>
          </a:xfrm>
          <a:custGeom>
            <a:avLst/>
            <a:gdLst/>
            <a:ahLst/>
            <a:cxnLst/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4"/>
          <p:cNvSpPr txBox="1">
            <a:spLocks noGrp="1"/>
          </p:cNvSpPr>
          <p:nvPr>
            <p:ph type="body" idx="1"/>
          </p:nvPr>
        </p:nvSpPr>
        <p:spPr>
          <a:xfrm>
            <a:off x="838200" y="1929384"/>
            <a:ext cx="10515600" cy="42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Maximum mass: mass = 2000g = 2.0kg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Nominal speed: v = 350mm/s = 0.35m/s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Footprint: circular, diameter D = 50cm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Stair height: h = 2.5cm = 0.025m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Minimum runtime: t = 15min = 0.25h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PCB reserved volume: 150 × 150 × 100mm^3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Visual feedback: ≥ 300 lumen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Circular footprint: 50–60 cm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Must climb 5 stairs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5"/>
          <p:cNvSpPr txBox="1">
            <a:spLocks noGrp="1"/>
          </p:cNvSpPr>
          <p:nvPr>
            <p:ph type="title"/>
          </p:nvPr>
        </p:nvSpPr>
        <p:spPr>
          <a:xfrm>
            <a:off x="838200" y="33498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</a:pPr>
            <a:r>
              <a:rPr lang="en-US" sz="5400"/>
              <a:t>Climbing Force Derivation</a:t>
            </a:r>
            <a:endParaRPr sz="5400"/>
          </a:p>
        </p:txBody>
      </p:sp>
      <p:sp>
        <p:nvSpPr>
          <p:cNvPr id="102" name="Google Shape;102;p15"/>
          <p:cNvSpPr/>
          <p:nvPr/>
        </p:nvSpPr>
        <p:spPr>
          <a:xfrm>
            <a:off x="669036" y="1677373"/>
            <a:ext cx="10853928" cy="18288"/>
          </a:xfrm>
          <a:custGeom>
            <a:avLst/>
            <a:gdLst/>
            <a:ahLst/>
            <a:cxnLst/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5"/>
          <p:cNvSpPr txBox="1">
            <a:spLocks noGrp="1"/>
          </p:cNvSpPr>
          <p:nvPr>
            <p:ph type="body" idx="1"/>
          </p:nvPr>
        </p:nvSpPr>
        <p:spPr>
          <a:xfrm>
            <a:off x="838200" y="1929384"/>
            <a:ext cx="4969747" cy="2009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The wheel rotates about the corner of the step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The contact force Fc at the pivot does not create any torque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The applied horizontal force F acts at the wheel center</a:t>
            </a:r>
            <a:endParaRPr/>
          </a:p>
        </p:txBody>
      </p:sp>
      <p:pic>
        <p:nvPicPr>
          <p:cNvPr id="104" name="Google Shape;104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95" y="3842704"/>
            <a:ext cx="6229743" cy="2749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10738" y="1845308"/>
            <a:ext cx="5543659" cy="47928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</a:pPr>
            <a:r>
              <a:rPr lang="en-US" sz="5400"/>
              <a:t>Required Wheel Torque</a:t>
            </a:r>
            <a:endParaRPr sz="5400"/>
          </a:p>
        </p:txBody>
      </p:sp>
      <p:sp>
        <p:nvSpPr>
          <p:cNvPr id="112" name="Google Shape;112;p16"/>
          <p:cNvSpPr/>
          <p:nvPr/>
        </p:nvSpPr>
        <p:spPr>
          <a:xfrm>
            <a:off x="669036" y="1677373"/>
            <a:ext cx="10853928" cy="18288"/>
          </a:xfrm>
          <a:custGeom>
            <a:avLst/>
            <a:gdLst/>
            <a:ahLst/>
            <a:cxnLst/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p1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13773" y="1973515"/>
            <a:ext cx="6759602" cy="40455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87148" y="2317347"/>
            <a:ext cx="3357854" cy="33578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62182" y="6165617"/>
            <a:ext cx="1587482" cy="5998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127623" y="5936538"/>
            <a:ext cx="1119285" cy="365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915655" y="5706005"/>
            <a:ext cx="2425878" cy="919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 sz="5400"/>
              <a:t>Wheel Angular Velocity, Battery Sizing</a:t>
            </a:r>
            <a:endParaRPr/>
          </a:p>
        </p:txBody>
      </p:sp>
      <p:sp>
        <p:nvSpPr>
          <p:cNvPr id="124" name="Google Shape;124;p17"/>
          <p:cNvSpPr/>
          <p:nvPr/>
        </p:nvSpPr>
        <p:spPr>
          <a:xfrm>
            <a:off x="669036" y="1677373"/>
            <a:ext cx="10853928" cy="18288"/>
          </a:xfrm>
          <a:custGeom>
            <a:avLst/>
            <a:gdLst/>
            <a:ahLst/>
            <a:cxnLst/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" name="Google Shape;125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825625"/>
            <a:ext cx="6225564" cy="4550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77886" y="1829077"/>
            <a:ext cx="3875914" cy="4550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447151-3608-A938-26E5-1CD4D1EEF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PCB Design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E2E9B21-3147-7574-E52F-C3A937DF7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2" y="4631161"/>
            <a:ext cx="3571810" cy="155932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Stair-Climbing Robot: Electronics and PCB</a:t>
            </a: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4ACC4B-DE71-AA0A-40BB-2708E5118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790967"/>
            <a:ext cx="7214616" cy="524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733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F9E5E9-3460-3A81-427B-B0CA7FA3A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0A5B08-A461-0B3E-2605-C0CE03E1A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8058915-9B29-31A7-A468-8BAE4CBA5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PCB Overview: 4-Block Architecture</a:t>
            </a:r>
            <a:endParaRPr lang="en-US" sz="54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86812F4F-A1DD-2709-8851-53D33C2E6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AF0261-9050-C602-773C-CE76ECAE1D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33452" y="2023798"/>
            <a:ext cx="4989512" cy="40328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14F84D-8971-7CC2-0647-887D5E3CE9F6}"/>
              </a:ext>
            </a:extLst>
          </p:cNvPr>
          <p:cNvSpPr txBox="1"/>
          <p:nvPr/>
        </p:nvSpPr>
        <p:spPr>
          <a:xfrm>
            <a:off x="838200" y="2332061"/>
            <a:ext cx="528963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Board: 100 x 80 mm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Block 1 — Power Supply: LM2596, 12V→5V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Block 2 — Motor Driver: L298N, dual H-bridge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Block 3 — Microcontroller: ESP32-C3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Block 4 — LED Lighting: separate sub-PCB, 400lm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5F008E-7EDE-4D24-3F73-3E704C325CF6}"/>
              </a:ext>
            </a:extLst>
          </p:cNvPr>
          <p:cNvSpPr txBox="1"/>
          <p:nvPr/>
        </p:nvSpPr>
        <p:spPr>
          <a:xfrm>
            <a:off x="7288040" y="5748381"/>
            <a:ext cx="39842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Fig. 1 — Main PCB layout, 100 x 80 mm, </a:t>
            </a:r>
            <a:r>
              <a:rPr lang="en-US" sz="1400" i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KiCad</a:t>
            </a:r>
            <a:endParaRPr lang="en-US" sz="1400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2374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A85FE37-9DA9-453E-E2A7-CFEFB116C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Block 1 &amp; 2 : Power Supply and Motor Driver</a:t>
            </a:r>
            <a:endParaRPr lang="en-US" sz="54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C7B2EF-7EAF-59A5-F061-6EBB21B54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036" y="4402324"/>
            <a:ext cx="5329120" cy="2147643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/>
              <a:t>Buck converter (U3):</a:t>
            </a:r>
            <a:r>
              <a:rPr lang="en-AU" sz="2000" dirty="0"/>
              <a:t>steps down 12V to 5V</a:t>
            </a:r>
            <a:endParaRPr lang="en-US" sz="2000" dirty="0"/>
          </a:p>
          <a:p>
            <a:r>
              <a:rPr lang="en-US" sz="2000" dirty="0"/>
              <a:t>Schottky Diode (D9): prevents voltage spikes</a:t>
            </a:r>
          </a:p>
          <a:p>
            <a:r>
              <a:rPr lang="en-US" sz="2000" dirty="0"/>
              <a:t>Inductor (L1): For energy storage</a:t>
            </a:r>
          </a:p>
          <a:p>
            <a:r>
              <a:rPr lang="en-US" sz="2000" dirty="0"/>
              <a:t>Screw terminal (J1): 12V battery input connector</a:t>
            </a:r>
          </a:p>
          <a:p>
            <a:r>
              <a:rPr lang="en-US" sz="2000" dirty="0"/>
              <a:t>Capacitors (C1,C2): Input and output filters</a:t>
            </a:r>
          </a:p>
          <a:p>
            <a:endParaRPr lang="en-US" sz="2000" dirty="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96A5BD5E-6DA5-80C1-6B1C-74BAE2F42ACC}"/>
              </a:ext>
            </a:extLst>
          </p:cNvPr>
          <p:cNvSpPr txBox="1">
            <a:spLocks/>
          </p:cNvSpPr>
          <p:nvPr/>
        </p:nvSpPr>
        <p:spPr>
          <a:xfrm>
            <a:off x="6481323" y="1929706"/>
            <a:ext cx="5257800" cy="2135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200" dirty="0"/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FAB9CFB0-953B-EAA0-1784-CF99CA457BBA}"/>
              </a:ext>
            </a:extLst>
          </p:cNvPr>
          <p:cNvSpPr txBox="1">
            <a:spLocks/>
          </p:cNvSpPr>
          <p:nvPr/>
        </p:nvSpPr>
        <p:spPr>
          <a:xfrm>
            <a:off x="6265164" y="1853206"/>
            <a:ext cx="5257800" cy="23424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Motor Driver:</a:t>
            </a:r>
          </a:p>
          <a:p>
            <a:r>
              <a:rPr lang="en-US" sz="1800" dirty="0"/>
              <a:t>L298N (U2): Controls direction and speed of both drive motors using signals from the ESP32.</a:t>
            </a:r>
          </a:p>
          <a:p>
            <a:r>
              <a:rPr lang="en-US" sz="1800" dirty="0"/>
              <a:t>Motor connectors (J2,J3): Left and right motor outputs</a:t>
            </a:r>
          </a:p>
          <a:p>
            <a:r>
              <a:rPr lang="en-US" sz="1800" dirty="0"/>
              <a:t>Flyback diodes (D5-D13): they catch voltage spikes from motor back-EMF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183DFC5-5694-CAF2-C444-70C328B74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1323" y="4299373"/>
            <a:ext cx="5164248" cy="213811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626676D-F0CB-C95E-CB5C-9B58C37C51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295" r="1847"/>
          <a:stretch>
            <a:fillRect/>
          </a:stretch>
        </p:blipFill>
        <p:spPr>
          <a:xfrm>
            <a:off x="1324609" y="2199852"/>
            <a:ext cx="3254863" cy="179665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14864359-FB0A-9B09-351B-3110B60C4509}"/>
              </a:ext>
            </a:extLst>
          </p:cNvPr>
          <p:cNvSpPr txBox="1"/>
          <p:nvPr/>
        </p:nvSpPr>
        <p:spPr>
          <a:xfrm>
            <a:off x="7467876" y="6507186"/>
            <a:ext cx="30614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Fig. 3 — Block 2: L298N motor driver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99F2833-8C0F-42BC-531C-38E86C3DD9D7}"/>
              </a:ext>
            </a:extLst>
          </p:cNvPr>
          <p:cNvSpPr txBox="1"/>
          <p:nvPr/>
        </p:nvSpPr>
        <p:spPr>
          <a:xfrm>
            <a:off x="1324609" y="3964080"/>
            <a:ext cx="33873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Fig. 2 — Block 1: LM2596 power supply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FB61E9-D108-D364-5490-328173F380C3}"/>
              </a:ext>
            </a:extLst>
          </p:cNvPr>
          <p:cNvSpPr txBox="1"/>
          <p:nvPr/>
        </p:nvSpPr>
        <p:spPr>
          <a:xfrm>
            <a:off x="669036" y="1742728"/>
            <a:ext cx="30268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/>
              <a:t>Power Supply: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856160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A12555-7C75-4366-D966-A7C28EF57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912D654-96F6-9E9A-128C-3149C5368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B2BF7E5-AE4A-847C-5B32-E3A343AB3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Block 3 &amp; 4: Microcontroller, Sensors and LEDs</a:t>
            </a:r>
            <a:endParaRPr lang="en-US" sz="54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F984A2BE-46A9-32C0-4645-2594F07F3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50881EA-DB05-B475-069E-11D33B962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1937" y="1917363"/>
            <a:ext cx="4893105" cy="277993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/>
              <a:t>Microcontroller and Sensor Interface:</a:t>
            </a:r>
          </a:p>
          <a:p>
            <a:r>
              <a:rPr lang="en-US" sz="1600" dirty="0"/>
              <a:t>ESP32-C3 (U1): Main microcontroller. Runs navigation firmware, controls motors, reads sensors, and drives LEDs</a:t>
            </a:r>
          </a:p>
          <a:p>
            <a:r>
              <a:rPr lang="en-US" sz="1600" dirty="0"/>
              <a:t>TCRT5000 (J4):3-pin header for IR sensor for line tracking </a:t>
            </a:r>
          </a:p>
          <a:p>
            <a:r>
              <a:rPr lang="en-US" sz="1600" dirty="0"/>
              <a:t>HC-SR04 (J5): 4-pin header for ultrasonic sensor for obstacle detection </a:t>
            </a:r>
          </a:p>
          <a:p>
            <a:r>
              <a:rPr lang="en-US" sz="1600" dirty="0"/>
              <a:t>Transistor 2N2219 (Q1): LED switching transistor. Controlled by ESP32 IO9 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CFFC5D91-A16E-5560-A261-3CA402579C58}"/>
              </a:ext>
            </a:extLst>
          </p:cNvPr>
          <p:cNvSpPr txBox="1">
            <a:spLocks/>
          </p:cNvSpPr>
          <p:nvPr/>
        </p:nvSpPr>
        <p:spPr>
          <a:xfrm>
            <a:off x="6386466" y="1929384"/>
            <a:ext cx="5257800" cy="2135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200" dirty="0"/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3869A773-2E8F-57D4-63F1-2946B6706663}"/>
              </a:ext>
            </a:extLst>
          </p:cNvPr>
          <p:cNvSpPr txBox="1">
            <a:spLocks/>
          </p:cNvSpPr>
          <p:nvPr/>
        </p:nvSpPr>
        <p:spPr>
          <a:xfrm>
            <a:off x="701937" y="4824459"/>
            <a:ext cx="5257800" cy="1653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/>
              <a:t>LED Lighting:</a:t>
            </a:r>
          </a:p>
          <a:p>
            <a:r>
              <a:rPr lang="en-US" sz="1600" dirty="0"/>
              <a:t>Connectors (J6,J7): LED_IN &amp; LED_OUT 2-pin connectors to power LEDs with 12V via cable</a:t>
            </a:r>
          </a:p>
          <a:p>
            <a:r>
              <a:rPr lang="en-US" sz="1600" dirty="0"/>
              <a:t>LEDs (D1-D4): Each LED provides 100 </a:t>
            </a:r>
            <a:r>
              <a:rPr lang="en-US" sz="1600" dirty="0" err="1"/>
              <a:t>lm</a:t>
            </a:r>
            <a:r>
              <a:rPr lang="en-US" sz="1600" dirty="0"/>
              <a:t>/w</a:t>
            </a:r>
          </a:p>
          <a:p>
            <a:r>
              <a:rPr lang="en-US" sz="1600" dirty="0"/>
              <a:t>Resistors (R1,R2): Limit current to 300 mA per LED</a:t>
            </a:r>
          </a:p>
          <a:p>
            <a:endParaRPr lang="en-US" sz="1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6DF4CA1-2248-88E7-2067-9B8B223C723C}"/>
              </a:ext>
            </a:extLst>
          </p:cNvPr>
          <p:cNvSpPr txBox="1"/>
          <p:nvPr/>
        </p:nvSpPr>
        <p:spPr>
          <a:xfrm>
            <a:off x="6386466" y="5505096"/>
            <a:ext cx="266004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Fig. 4 — Block 3: Sensor interface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7870B2-B4AB-1845-6017-4E7FBA7C1849}"/>
              </a:ext>
            </a:extLst>
          </p:cNvPr>
          <p:cNvSpPr txBox="1"/>
          <p:nvPr/>
        </p:nvSpPr>
        <p:spPr>
          <a:xfrm>
            <a:off x="9469847" y="6320675"/>
            <a:ext cx="298083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Fig. 5 — Block 4: LED sub-PCB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F8EECBF-E0E2-2AB8-4DE6-CA7A14AE37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66" t="793" r="4327" b="4341"/>
          <a:stretch>
            <a:fillRect/>
          </a:stretch>
        </p:blipFill>
        <p:spPr>
          <a:xfrm rot="16200000">
            <a:off x="8848456" y="3299973"/>
            <a:ext cx="3376942" cy="275936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F2D4C8B-DDC7-8003-CA8B-6E0A668B2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206" y="1731523"/>
            <a:ext cx="2337991" cy="3740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757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3E9F9D-9ECE-1FAF-8DD3-2EBBA2F6D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C4A3483-07A0-A1E7-F6ED-D5FB6DD19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3B5F0B5-80B4-8F81-B26F-E9B66C6C2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PCB Requirements</a:t>
            </a:r>
            <a:endParaRPr lang="en-US" sz="54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4B08CBC4-3265-6561-631B-669B0F7AE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17ED4D8-AE0B-2EAB-DBEE-4D415A1F2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9757"/>
            <a:ext cx="5166756" cy="467073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1800" b="1" dirty="0"/>
              <a:t>PCB fits in chassis</a:t>
            </a:r>
            <a:r>
              <a:rPr lang="en-US" sz="1800" dirty="0"/>
              <a:t>: 100x100x80mm within reserved volume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/>
              <a:t>Stair climbing: </a:t>
            </a:r>
            <a:r>
              <a:rPr lang="en-US" sz="1800" dirty="0"/>
              <a:t>L298N supports 1.84Nm torque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/>
              <a:t>15 min runtime: </a:t>
            </a:r>
            <a:r>
              <a:rPr lang="en-US" sz="1800" dirty="0"/>
              <a:t>1.09Ah battery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/>
              <a:t>Line tracking + remote control: </a:t>
            </a:r>
            <a:r>
              <a:rPr lang="en-US" sz="1800" dirty="0"/>
              <a:t>TCRT5000 + ESP32 Wi-Fi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/>
              <a:t>400lm visual feedback</a:t>
            </a:r>
            <a:r>
              <a:rPr lang="en-US" sz="1800" dirty="0"/>
              <a:t>: exceeds 300lm requirement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/>
              <a:t>Remote Control</a:t>
            </a:r>
            <a:r>
              <a:rPr lang="en-US" sz="1800" dirty="0"/>
              <a:t>: Blynk app via ESP32 Wi-Fi, no extra hardware needed.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924C94D5-C467-20CE-1078-43D7860FB6A0}"/>
              </a:ext>
            </a:extLst>
          </p:cNvPr>
          <p:cNvSpPr txBox="1">
            <a:spLocks/>
          </p:cNvSpPr>
          <p:nvPr/>
        </p:nvSpPr>
        <p:spPr>
          <a:xfrm>
            <a:off x="6386466" y="1929384"/>
            <a:ext cx="5257800" cy="2135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1532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AC472F-50A0-A83E-A3D6-C45C73046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AB059D4-547D-28F0-EDCD-D9A865B91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6E680C7-1922-A6DE-3A13-2EA9BCACA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AT" sz="5400"/>
              <a:t>Design Requirements</a:t>
            </a:r>
            <a:endParaRPr lang="en-US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A9C1AECD-4147-8106-C7A9-7E92D730A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F351F11-2E21-5637-F2AA-7562182DF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dirty="0"/>
              <a:t>Circular footprint: 50–60 cm</a:t>
            </a:r>
          </a:p>
          <a:p>
            <a:r>
              <a:rPr lang="en-US" sz="2200" dirty="0"/>
              <a:t>Maximum weight: 2000 g</a:t>
            </a:r>
          </a:p>
          <a:p>
            <a:r>
              <a:rPr lang="en-US" sz="2200" dirty="0"/>
              <a:t>Must climb 5 stairs </a:t>
            </a:r>
          </a:p>
          <a:p>
            <a:r>
              <a:rPr lang="en-US" sz="2200" dirty="0"/>
              <a:t>Step height: 25 mm</a:t>
            </a:r>
          </a:p>
          <a:p>
            <a:r>
              <a:rPr lang="en-US" sz="2200" dirty="0"/>
              <a:t>Designed in Autodesk Fusion </a:t>
            </a:r>
          </a:p>
        </p:txBody>
      </p:sp>
    </p:spTree>
    <p:extLst>
      <p:ext uri="{BB962C8B-B14F-4D97-AF65-F5344CB8AC3E}">
        <p14:creationId xmlns:p14="http://schemas.microsoft.com/office/powerpoint/2010/main" val="514968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C6D9F50-4686-6CC4-4FE9-D6EA9F6D6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Final CAD Design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B63823C-C7B6-8000-2677-0E115814C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/>
              <a:t>Circular ring frame</a:t>
            </a:r>
          </a:p>
          <a:p>
            <a:r>
              <a:rPr lang="en-US" sz="2200"/>
              <a:t>Central core for electronics and </a:t>
            </a:r>
            <a:br>
              <a:rPr lang="en-US" sz="2200"/>
            </a:br>
            <a:r>
              <a:rPr lang="en-US" sz="2200"/>
              <a:t>battery</a:t>
            </a:r>
          </a:p>
          <a:p>
            <a:r>
              <a:rPr lang="en-US" sz="2200"/>
              <a:t>Two driven front wheels</a:t>
            </a:r>
          </a:p>
          <a:p>
            <a:r>
              <a:rPr lang="en-US" sz="2200"/>
              <a:t>Fixed passive rear wheel</a:t>
            </a:r>
          </a:p>
          <a:p>
            <a:r>
              <a:rPr lang="en-US" sz="2200"/>
              <a:t>Custom  TPU tires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E240B82E-8FAA-37D2-5430-CD8D167C1B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9076" y="3269218"/>
            <a:ext cx="4950777" cy="3301993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471C8B24-9337-6EA5-58C6-72CA2455B8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2030082" y="-483072"/>
            <a:ext cx="8282967" cy="4395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222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026BB2-890A-26E2-2AA9-AFAD6E9FA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A3AEF54-873B-EDA8-8C98-C6D58A917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775" y="1271780"/>
            <a:ext cx="3255095" cy="1301976"/>
          </a:xfrm>
        </p:spPr>
        <p:txBody>
          <a:bodyPr anchor="b">
            <a:normAutofit fontScale="90000"/>
          </a:bodyPr>
          <a:lstStyle/>
          <a:p>
            <a:r>
              <a:rPr lang="en-US" sz="4800" dirty="0"/>
              <a:t>Components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C4068E-5213-7688-D807-D4102DD7A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 fontScale="92500" lnSpcReduction="20000"/>
          </a:bodyPr>
          <a:lstStyle/>
          <a:p>
            <a:r>
              <a:rPr lang="en-US" sz="2200" dirty="0"/>
              <a:t>Core</a:t>
            </a:r>
          </a:p>
          <a:p>
            <a:r>
              <a:rPr lang="en-US" sz="2200" dirty="0"/>
              <a:t>Ring</a:t>
            </a:r>
          </a:p>
          <a:p>
            <a:r>
              <a:rPr lang="en-US" sz="2200" dirty="0"/>
              <a:t>Lid</a:t>
            </a:r>
          </a:p>
          <a:p>
            <a:r>
              <a:rPr lang="en-US" sz="2200" dirty="0"/>
              <a:t>Tires+ axis</a:t>
            </a:r>
          </a:p>
          <a:p>
            <a:r>
              <a:rPr lang="en-US" sz="2200" dirty="0"/>
              <a:t>Main PCB + LED PCB</a:t>
            </a:r>
          </a:p>
          <a:p>
            <a:r>
              <a:rPr lang="en-US" sz="2200" dirty="0"/>
              <a:t>2x Motors</a:t>
            </a:r>
          </a:p>
          <a:p>
            <a:r>
              <a:rPr lang="en-US" sz="2200" dirty="0"/>
              <a:t>Ultrasonic sensor</a:t>
            </a:r>
          </a:p>
          <a:p>
            <a:r>
              <a:rPr lang="en-US" sz="2200" dirty="0"/>
              <a:t>IR sensor Array</a:t>
            </a:r>
          </a:p>
          <a:p>
            <a:r>
              <a:rPr lang="en-US" sz="2200" dirty="0"/>
              <a:t>Battery</a:t>
            </a:r>
          </a:p>
          <a:p>
            <a:r>
              <a:rPr lang="en-US" sz="2200" dirty="0"/>
              <a:t>M2 Inserts and Screws</a:t>
            </a:r>
          </a:p>
          <a:p>
            <a:endParaRPr lang="en-US" sz="2200" dirty="0"/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1E6B890A-E947-98CB-8FDF-6872FB807B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55" t="-2086" b="2086"/>
          <a:stretch>
            <a:fillRect/>
          </a:stretch>
        </p:blipFill>
        <p:spPr>
          <a:xfrm>
            <a:off x="4088876" y="0"/>
            <a:ext cx="8103124" cy="6583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308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A350F4B-7858-0AF0-0C88-A45020AC8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 dirty="0"/>
              <a:t>Weight-Saving Design Decisions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015503-AE79-3209-8BAE-B65F74982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de-AT" sz="2200" dirty="0"/>
              <a:t>Big in </a:t>
            </a:r>
            <a:r>
              <a:rPr lang="de-AT" sz="2200" dirty="0" err="1"/>
              <a:t>size</a:t>
            </a:r>
            <a:endParaRPr lang="de-AT" sz="2200" dirty="0"/>
          </a:p>
          <a:p>
            <a:r>
              <a:rPr lang="en-US" sz="2200" dirty="0"/>
              <a:t>Ring structure instead of solid circular base</a:t>
            </a:r>
          </a:p>
          <a:p>
            <a:r>
              <a:rPr lang="en-US" sz="2200" dirty="0"/>
              <a:t>Open core with ribs for stiffness</a:t>
            </a:r>
          </a:p>
          <a:p>
            <a:r>
              <a:rPr lang="en-US" sz="2200" dirty="0"/>
              <a:t>Fixed rear wheel 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71850D1-3793-E38D-8231-46D191935B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1375" y="4079193"/>
            <a:ext cx="2397892" cy="2403903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CA2FB33-0797-4078-64F7-2EFA2B0525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9680" y="369503"/>
            <a:ext cx="2684247" cy="3400319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8E9F73BA-BCA7-CA6D-F5E5-001D5D13B5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2099" y="3821931"/>
            <a:ext cx="5015069" cy="266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6024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FE799-E912-EA77-D8B4-8DDE2A06C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0EA876E-21E0-D74C-DCAF-DA9848234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BAA2C9C-BF05-9B6A-57BA-14C0722DD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 dirty="0"/>
              <a:t>Wheels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F37C6B84-3897-90D4-F9D5-86C9358B3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595B6930-DA8C-0A12-D79E-314F315EFE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6109" y="3797686"/>
            <a:ext cx="4400893" cy="26328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Inhaltsplatzhalter 10">
            <a:extLst>
              <a:ext uri="{FF2B5EF4-FFF2-40B4-BE49-F238E27FC236}">
                <a16:creationId xmlns:a16="http://schemas.microsoft.com/office/drawing/2014/main" id="{8DCE24F8-3A92-C13D-6594-4FDB8B22AB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2140" y="427472"/>
            <a:ext cx="4588389" cy="304539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3B327C1E-910C-81DE-30DA-3C17DB86E081}"/>
              </a:ext>
            </a:extLst>
          </p:cNvPr>
          <p:cNvSpPr txBox="1"/>
          <p:nvPr/>
        </p:nvSpPr>
        <p:spPr>
          <a:xfrm>
            <a:off x="708032" y="2936911"/>
            <a:ext cx="42255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 err="1"/>
              <a:t>custom</a:t>
            </a:r>
            <a:r>
              <a:rPr lang="de-AT" dirty="0"/>
              <a:t> TPU </a:t>
            </a:r>
            <a:r>
              <a:rPr lang="de-AT" dirty="0" err="1"/>
              <a:t>tires</a:t>
            </a:r>
            <a:endParaRPr lang="de-A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 err="1"/>
              <a:t>conneced</a:t>
            </a:r>
            <a:r>
              <a:rPr lang="de-AT" dirty="0"/>
              <a:t> </a:t>
            </a:r>
            <a:r>
              <a:rPr lang="de-AT" dirty="0" err="1"/>
              <a:t>to</a:t>
            </a:r>
            <a:r>
              <a:rPr lang="de-AT" dirty="0"/>
              <a:t> </a:t>
            </a:r>
            <a:r>
              <a:rPr lang="de-AT" dirty="0" err="1"/>
              <a:t>motor</a:t>
            </a:r>
            <a:r>
              <a:rPr lang="de-AT" dirty="0"/>
              <a:t> via 3d-printed </a:t>
            </a:r>
            <a:r>
              <a:rPr lang="de-AT" dirty="0" err="1"/>
              <a:t>axis</a:t>
            </a:r>
            <a:endParaRPr lang="de-AT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307D189A-AFCB-9B1D-754F-D2AD7F698F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75"/>
          <a:stretch>
            <a:fillRect/>
          </a:stretch>
        </p:blipFill>
        <p:spPr>
          <a:xfrm>
            <a:off x="1383308" y="3778135"/>
            <a:ext cx="3509494" cy="2884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819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62BA81-E95E-4514-09D5-D112FD40D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 Check / Conclusion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1031AAC-0F26-07D2-9324-B5399360C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✓ Footprint: 500 mm diameter </a:t>
            </a:r>
          </a:p>
          <a:p>
            <a:pPr marL="0" indent="0">
              <a:buNone/>
            </a:pPr>
            <a:r>
              <a:rPr lang="en-US" dirty="0"/>
              <a:t>✓ Weight: 1405 g → below 2000 g</a:t>
            </a:r>
          </a:p>
          <a:p>
            <a:pPr marL="0" indent="0">
              <a:buNone/>
            </a:pPr>
            <a:r>
              <a:rPr lang="en-US" dirty="0"/>
              <a:t>✓ Stair climbing: 25 mm step verified</a:t>
            </a:r>
          </a:p>
          <a:p>
            <a:pPr marL="0" indent="0">
              <a:buNone/>
            </a:pPr>
            <a:r>
              <a:rPr lang="en-US" dirty="0"/>
              <a:t>✓ Design priority: low weight + simple mechanics</a:t>
            </a:r>
          </a:p>
        </p:txBody>
      </p:sp>
    </p:spTree>
    <p:extLst>
      <p:ext uri="{BB962C8B-B14F-4D97-AF65-F5344CB8AC3E}">
        <p14:creationId xmlns:p14="http://schemas.microsoft.com/office/powerpoint/2010/main" val="999886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653</Words>
  <Application>Microsoft Office PowerPoint</Application>
  <PresentationFormat>Widescreen</PresentationFormat>
  <Paragraphs>98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Play</vt:lpstr>
      <vt:lpstr>Wingdings</vt:lpstr>
      <vt:lpstr>Office</vt:lpstr>
      <vt:lpstr>Robot Design for Stair Climbing</vt:lpstr>
      <vt:lpstr>Given Requirements</vt:lpstr>
      <vt:lpstr>Climbing Force Derivation</vt:lpstr>
      <vt:lpstr>Required Wheel Torque</vt:lpstr>
      <vt:lpstr>Wheel Angular Velocity, Battery Sizing</vt:lpstr>
      <vt:lpstr>PCB Design</vt:lpstr>
      <vt:lpstr>PCB Overview: 4-Block Architecture</vt:lpstr>
      <vt:lpstr>Block 1 &amp; 2 : Power Supply and Motor Driver</vt:lpstr>
      <vt:lpstr>Block 3 &amp; 4: Microcontroller, Sensors and LEDs</vt:lpstr>
      <vt:lpstr>PCB Requirements</vt:lpstr>
      <vt:lpstr>Design Requirements</vt:lpstr>
      <vt:lpstr>Final CAD Design</vt:lpstr>
      <vt:lpstr>Components</vt:lpstr>
      <vt:lpstr>Weight-Saving Design Decisions</vt:lpstr>
      <vt:lpstr>Wheels</vt:lpstr>
      <vt:lpstr>Requirement Check /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Baier, Lisa-Sophie</dc:creator>
  <cp:lastModifiedBy>Lotf, Hanane</cp:lastModifiedBy>
  <cp:revision>12</cp:revision>
  <dcterms:created xsi:type="dcterms:W3CDTF">2026-06-17T11:17:06Z</dcterms:created>
  <dcterms:modified xsi:type="dcterms:W3CDTF">2026-06-21T20:19:56Z</dcterms:modified>
</cp:coreProperties>
</file>